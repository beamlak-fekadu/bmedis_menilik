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8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14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85"/>
    <p:restoredTop sz="96341"/>
  </p:normalViewPr>
  <p:slideViewPr>
    <p:cSldViewPr snapToGrid="0" snapToObjects="1">
      <p:cViewPr varScale="1">
        <p:scale>
          <a:sx n="120" d="100"/>
          <a:sy n="120" d="100"/>
        </p:scale>
        <p:origin x="200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036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this is progress status and decision-making support, not a full final defense.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implementation gap: records exist, but routine decisions still need prioritization, visibility, and usability.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reassure the advisor that the current implementation is aligned with the original proposal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the foundation and many modules exist; the remaining work is polish, real data, and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Modern tooling was used to implement a structured architecture, and you can explain the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quick advisor scan. It shows the project is broad, but also makes the partial areas visible instead of hiding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this the scientific contribution slide. The formulas are explicit and explainable, not black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important for the advisor because it answers: why another system if MEMIS exists?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demo controlled. Do not click randomly. Prepare the exact route order and close tabs before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you know what remains. Do not overpromise; present it as planned work with advisor guidance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E89A7-3685-104B-934E-463AE3544D65}" type="datetime1">
              <a:rPr lang="en-US" smtClean="0"/>
              <a:t>5/2/26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17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9A4649-9A89-5071-8062-915E85E04305}"/>
              </a:ext>
            </a:extLst>
          </p:cNvPr>
          <p:cNvSpPr txBox="1"/>
          <p:nvPr/>
        </p:nvSpPr>
        <p:spPr>
          <a:xfrm>
            <a:off x="238992" y="599091"/>
            <a:ext cx="117832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Development of a Medical Equipment Asset Management and Decision-Support System for Yekatit 12 Hospital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7BD4B6-93B1-3AAB-4A65-59A478B0D487}"/>
              </a:ext>
            </a:extLst>
          </p:cNvPr>
          <p:cNvSpPr txBox="1"/>
          <p:nvPr/>
        </p:nvSpPr>
        <p:spPr>
          <a:xfrm>
            <a:off x="1717280" y="2414382"/>
            <a:ext cx="7956024" cy="2280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457200">
              <a:lnSpc>
                <a:spcPct val="115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ABEL ZEREABRUK				UGR/2672/14</a:t>
            </a:r>
            <a:endParaRPr lang="en-ET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 indent="457200">
              <a:lnSpc>
                <a:spcPct val="115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ABIGIYA CHINA					UGR/9769/14</a:t>
            </a:r>
            <a:endParaRPr lang="en-ET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 indent="457200">
              <a:lnSpc>
                <a:spcPct val="115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BEAMLAK FEKADU				UGR/2356/14</a:t>
            </a:r>
            <a:endParaRPr lang="en-ET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 indent="457200">
              <a:lnSpc>
                <a:spcPct val="115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ELDANA ABIY					UGR/6935/14</a:t>
            </a:r>
            <a:endParaRPr lang="en-ET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 indent="457200">
              <a:lnSpc>
                <a:spcPct val="115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FITSUM FESEHA					UGR/4940/14</a:t>
            </a:r>
            <a:endParaRPr lang="en-ET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 indent="457200">
              <a:lnSpc>
                <a:spcPct val="115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YODIT ALMAW					UGR/6368/14</a:t>
            </a:r>
            <a:endParaRPr lang="en-ET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E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8BFECA-E57C-066A-6C71-4FAED9D1921F}"/>
              </a:ext>
            </a:extLst>
          </p:cNvPr>
          <p:cNvSpPr txBox="1"/>
          <p:nvPr/>
        </p:nvSpPr>
        <p:spPr>
          <a:xfrm>
            <a:off x="5836952" y="2043225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T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</p:txBody>
      </p:sp>
      <p:pic>
        <p:nvPicPr>
          <p:cNvPr id="6" name="image1.png">
            <a:extLst>
              <a:ext uri="{FF2B5EF4-FFF2-40B4-BE49-F238E27FC236}">
                <a16:creationId xmlns:a16="http://schemas.microsoft.com/office/drawing/2014/main" id="{8D299CC6-96A8-E375-5571-BF3363FB13A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39724" y="4440176"/>
            <a:ext cx="1312545" cy="1294130"/>
          </a:xfrm>
          <a:prstGeom prst="rect">
            <a:avLst/>
          </a:prstGeom>
          <a:ln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EF9F12-B60C-9D8E-520B-B8F759B49D3F}"/>
              </a:ext>
            </a:extLst>
          </p:cNvPr>
          <p:cNvSpPr txBox="1"/>
          <p:nvPr/>
        </p:nvSpPr>
        <p:spPr>
          <a:xfrm>
            <a:off x="4610628" y="4255510"/>
            <a:ext cx="3034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E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Advisor: Mr. Wubshet Shimels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AEDA57-1945-E417-9EB5-981B2B552571}"/>
              </a:ext>
            </a:extLst>
          </p:cNvPr>
          <p:cNvSpPr txBox="1"/>
          <p:nvPr/>
        </p:nvSpPr>
        <p:spPr>
          <a:xfrm>
            <a:off x="4421147" y="5722642"/>
            <a:ext cx="34138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E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Biomedical Engineering</a:t>
            </a:r>
          </a:p>
          <a:p>
            <a:endParaRPr lang="en-E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F8A58C-C95D-AC47-FE9F-F900DF989D54}"/>
              </a:ext>
            </a:extLst>
          </p:cNvPr>
          <p:cNvSpPr txBox="1"/>
          <p:nvPr/>
        </p:nvSpPr>
        <p:spPr>
          <a:xfrm>
            <a:off x="5727351" y="6045807"/>
            <a:ext cx="8014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E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CTBE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02EE21-60CD-1B96-2BF4-B274F9EEB0D4}"/>
              </a:ext>
            </a:extLst>
          </p:cNvPr>
          <p:cNvSpPr txBox="1"/>
          <p:nvPr/>
        </p:nvSpPr>
        <p:spPr>
          <a:xfrm>
            <a:off x="5748169" y="6368973"/>
            <a:ext cx="695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E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AAU</a:t>
            </a:r>
            <a:endParaRPr lang="en-ET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36AA6D-EC86-442E-447B-8FF44F6F12A3}"/>
              </a:ext>
            </a:extLst>
          </p:cNvPr>
          <p:cNvSpPr txBox="1"/>
          <p:nvPr/>
        </p:nvSpPr>
        <p:spPr>
          <a:xfrm>
            <a:off x="9919980" y="6367081"/>
            <a:ext cx="1169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May, 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1F4607-31F1-9473-8AD8-E51A457597AA}"/>
              </a:ext>
            </a:extLst>
          </p:cNvPr>
          <p:cNvSpPr txBox="1"/>
          <p:nvPr/>
        </p:nvSpPr>
        <p:spPr>
          <a:xfrm>
            <a:off x="11595538" y="64323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ET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816540-617C-26ED-9A8E-61CA150C8708}"/>
              </a:ext>
            </a:extLst>
          </p:cNvPr>
          <p:cNvSpPr txBox="1"/>
          <p:nvPr/>
        </p:nvSpPr>
        <p:spPr>
          <a:xfrm>
            <a:off x="5064382" y="1675101"/>
            <a:ext cx="6104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Update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590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425" y="114205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5" y="6633877"/>
            <a:ext cx="12191695" cy="25603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707029"/>
            <a:ext cx="8046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Medical Equipment Asset Management &amp; Decision-Support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progress report covers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77A"/>
                </a:solidFill>
              </a:rPr>
              <a:t>A concise summary of our project status.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25603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7620">
            <a:solidFill>
              <a:srgbClr val="E3EAF3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234440"/>
            <a:ext cx="64008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38074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33"/>
                </a:solidFill>
              </a:rPr>
              <a:t>1. Proposal alignment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41832" y="1709928"/>
            <a:ext cx="22402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77A"/>
                </a:solidFill>
              </a:rPr>
              <a:t>What the thesis promised and why it matters for Yekatit 12.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20440" y="1234440"/>
            <a:ext cx="25603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7620">
            <a:solidFill>
              <a:srgbClr val="E3EAF3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234440"/>
            <a:ext cx="64008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138074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33"/>
                </a:solidFill>
              </a:rPr>
              <a:t>2. Built prototype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30752" y="1709928"/>
            <a:ext cx="22402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77A"/>
                </a:solidFill>
              </a:rPr>
              <a:t>System architecture, modules, analytics, and decision support.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9360" y="1234440"/>
            <a:ext cx="25603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7620">
            <a:solidFill>
              <a:srgbClr val="E3EAF3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234440"/>
            <a:ext cx="6400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138074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33"/>
                </a:solidFill>
              </a:rPr>
              <a:t>3. Demonstration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19672" y="1709928"/>
            <a:ext cx="22402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77A"/>
                </a:solidFill>
              </a:rPr>
              <a:t>Short walkthrough of the working system and main screens.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98280" y="1234440"/>
            <a:ext cx="25603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7620">
            <a:solidFill>
              <a:srgbClr val="E3EAF3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98280" y="123444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8592" y="138074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33"/>
                </a:solidFill>
              </a:rPr>
              <a:t>4. Remaining work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308592" y="1709928"/>
            <a:ext cx="22402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77A"/>
                </a:solidFill>
              </a:rPr>
              <a:t>Real data, evaluation, adoption features, and advisor decisions.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97280" y="3840480"/>
            <a:ext cx="9966960" cy="822960"/>
          </a:xfrm>
          <a:prstGeom prst="roundRect">
            <a:avLst>
              <a:gd name="adj" fmla="val 1111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7320" y="4000500"/>
            <a:ext cx="92811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Our prototype is no longer just a record system. It is becoming a hospital-level operational and decision-support platform.</a:t>
            </a:r>
            <a:endParaRPr lang="en-US" sz="1500" dirty="0"/>
          </a:p>
        </p:txBody>
      </p:sp>
      <p:sp>
        <p:nvSpPr>
          <p:cNvPr id="25" name="TextBox 24"/>
          <p:cNvSpPr txBox="1"/>
          <p:nvPr/>
        </p:nvSpPr>
        <p:spPr>
          <a:xfrm>
            <a:off x="109728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6665976"/>
            <a:ext cx="8046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Medical Equipment Asset Management &amp; Decision-Support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framing: the problem and contribution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77A"/>
                </a:solidFill>
              </a:rPr>
              <a:t>The system is motivated by fragmented equipment records, reactive maintenance, and limited decision support.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333756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7620">
            <a:solidFill>
              <a:srgbClr val="E3EAF3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234440"/>
            <a:ext cx="64008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38074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33"/>
                </a:solidFill>
              </a:rPr>
              <a:t>Current challenge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1709928"/>
            <a:ext cx="301752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77A"/>
                </a:solidFill>
              </a:rPr>
              <a:t>Equipment records may exist in paper, Excel, or fragmented systems. Maintenance becomes reactive and engineers lack a single action-oriented view.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1234440"/>
            <a:ext cx="333756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7620">
            <a:solidFill>
              <a:srgbClr val="E3EAF3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234440"/>
            <a:ext cx="64008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38074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33"/>
                </a:solidFill>
              </a:rPr>
              <a:t>Proposed response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45152" y="1709928"/>
            <a:ext cx="301752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77A"/>
                </a:solidFill>
              </a:rPr>
              <a:t>A hospital-level web platform covering inventory, maintenance, PM, calibration, logistics, training, disposal, reports, and dashboards.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11312" y="1234440"/>
            <a:ext cx="333756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7620">
            <a:solidFill>
              <a:srgbClr val="E3EAF3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11312" y="1234440"/>
            <a:ext cx="64008" cy="1508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1624" y="138074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33"/>
                </a:solidFill>
              </a:rPr>
              <a:t>Thesis contribution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21624" y="1709928"/>
            <a:ext cx="301752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77A"/>
                </a:solidFill>
              </a:rPr>
              <a:t>Move beyond documentation by converting operational data into reliability, risk, readiness, and replacement-priority outputs along with additional unique features.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37673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4160520"/>
            <a:ext cx="10515600" cy="68580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C9D9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37083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0B1220"/>
                </a:solidFill>
              </a:rPr>
              <a:t>We are building a hospital-level prototype that makes equipment management more useful for everyday biomedical engineering decisions.</a:t>
            </a:r>
            <a:endParaRPr lang="en-US" sz="1420" dirty="0"/>
          </a:p>
        </p:txBody>
      </p:sp>
      <p:sp>
        <p:nvSpPr>
          <p:cNvPr id="22" name="TextBox 21"/>
          <p:cNvSpPr txBox="1"/>
          <p:nvPr/>
        </p:nvSpPr>
        <p:spPr>
          <a:xfrm>
            <a:off x="109728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6665976"/>
            <a:ext cx="8046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Medical Equipment Asset Management &amp; Decision-Support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proposal committed us to build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77A"/>
                </a:solidFill>
              </a:rPr>
              <a:t>The promised scope combines equipment lifecycle management with analytical decision support.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7512" y="1298448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408176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Inventory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2084832" y="1298448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57984" y="1408176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Maintenance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+ Work Orders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3502152" y="1298448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5304" y="1408176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Preventive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Maintenance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4919472" y="1298448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92624" y="1408176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Calibration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336792" y="1298448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1408176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Spare Parts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+ Logistics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7754112" y="1298448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27264" y="1408176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Training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9171432" y="1298448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44584" y="1408176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Disposal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10588752" y="1298448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61904" y="1408176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Reporting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Dashboards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960120" y="2880360"/>
            <a:ext cx="10287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A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30906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033"/>
                </a:solidFill>
              </a:rPr>
              <a:t>Decision-support indicators promised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840480" y="3072384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95344" y="3145536"/>
            <a:ext cx="8503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MTBF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4965192" y="3072384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0056" y="3145536"/>
            <a:ext cx="8503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MTTR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089904" y="3072384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3145536"/>
            <a:ext cx="8503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Availability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7214616" y="3072384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9480" y="3145536"/>
            <a:ext cx="8503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PM Compliance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8339328" y="3072384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94192" y="3145536"/>
            <a:ext cx="8503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FMEA / RPN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9464040" y="3072384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18904" y="3145536"/>
            <a:ext cx="8503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Replacement Priority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1097280" y="489204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2033"/>
                </a:solidFill>
              </a:rPr>
              <a:t>Success criterion: not only storing equipment information, but producing practical outputs that help prioritize limited BME time and resources.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109728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6665976"/>
            <a:ext cx="8046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Medical Equipment Asset Management &amp; Decision-Support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snapshot: where the prototype stands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D677A"/>
                </a:solidFill>
              </a:rPr>
              <a:t>Current status across the main workstreams.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7620">
            <a:solidFill>
              <a:srgbClr val="E3EAF3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097280"/>
            <a:ext cx="64008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24358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33"/>
                </a:solidFill>
              </a:rPr>
              <a:t>Built foundation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96112" y="1572768"/>
            <a:ext cx="306324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77A"/>
                </a:solidFill>
              </a:rPr>
              <a:t>Next.js App Router, React UI, TypeScript services, Supabase authentication, PostgreSQL schema, role-based security.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109728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7620">
            <a:solidFill>
              <a:srgbClr val="E3EAF3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097280"/>
            <a:ext cx="64008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24358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33"/>
                </a:solidFill>
              </a:rPr>
              <a:t>Operational workflows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45152" y="1572768"/>
            <a:ext cx="306324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77A"/>
                </a:solidFill>
              </a:rPr>
              <a:t>Equipment registry, maintenance requests/work orders, PM, calibration, spare parts/logistics, procurement, training, disposal.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83880" y="109728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7620">
            <a:solidFill>
              <a:srgbClr val="E3EAF3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3880" y="1097280"/>
            <a:ext cx="6400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24358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33"/>
                </a:solidFill>
              </a:rPr>
              <a:t>Decision layer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94192" y="1572768"/>
            <a:ext cx="306324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77A"/>
                </a:solidFill>
              </a:rPr>
              <a:t>Analytics tables, reliability metrics, risk scores, recommendation flags, health scores, readiness, and triage snapshots.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033"/>
                </a:solidFill>
              </a:rPr>
              <a:t>Progress status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6576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77A"/>
                </a:solidFill>
              </a:rPr>
              <a:t>Core application structure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26080" y="3621024"/>
            <a:ext cx="960120" cy="246888"/>
          </a:xfrm>
          <a:prstGeom prst="roundRect">
            <a:avLst>
              <a:gd name="adj" fmla="val 1851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53512" y="3675888"/>
            <a:ext cx="905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DONE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749808" y="3986784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77A"/>
                </a:solidFill>
              </a:rPr>
              <a:t>MEMIS-style module alignment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26080" y="4032504"/>
            <a:ext cx="960120" cy="246888"/>
          </a:xfrm>
          <a:prstGeom prst="roundRect">
            <a:avLst>
              <a:gd name="adj" fmla="val 1851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53512" y="4087368"/>
            <a:ext cx="905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DONE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4572000" y="36576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77A"/>
                </a:solidFill>
              </a:rPr>
              <a:t>Unified decision interface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3621024"/>
            <a:ext cx="960120" cy="246888"/>
          </a:xfrm>
          <a:prstGeom prst="roundRect">
            <a:avLst>
              <a:gd name="adj" fmla="val 1851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11112" y="3675888"/>
            <a:ext cx="905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PARTIAL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4572000" y="40690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77A"/>
                </a:solidFill>
              </a:rPr>
              <a:t>Offline technician workflow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83680" y="4032504"/>
            <a:ext cx="960120" cy="246888"/>
          </a:xfrm>
          <a:prstGeom prst="roundRect">
            <a:avLst>
              <a:gd name="adj" fmla="val 1851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1112" y="4087368"/>
            <a:ext cx="905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FOUNDATION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8032173" y="3657600"/>
            <a:ext cx="211766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77A"/>
                </a:solidFill>
              </a:rPr>
              <a:t>Real Yekatit 12 data migration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241280" y="3621024"/>
            <a:ext cx="960120" cy="246888"/>
          </a:xfrm>
          <a:prstGeom prst="roundRect">
            <a:avLst>
              <a:gd name="adj" fmla="val 1851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68712" y="3675888"/>
            <a:ext cx="905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NEXT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8229600" y="40690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77A"/>
                </a:solidFill>
              </a:rPr>
              <a:t>Evaluation with BMEs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241280" y="4032504"/>
            <a:ext cx="960120" cy="246888"/>
          </a:xfrm>
          <a:prstGeom prst="roundRect">
            <a:avLst>
              <a:gd name="adj" fmla="val 1851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68712" y="4087368"/>
            <a:ext cx="905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NEXT</a:t>
            </a:r>
            <a:endParaRPr lang="en-US" sz="720" dirty="0"/>
          </a:p>
        </p:txBody>
      </p:sp>
      <p:sp>
        <p:nvSpPr>
          <p:cNvPr id="38" name="TextBox 37"/>
          <p:cNvSpPr txBox="1"/>
          <p:nvPr/>
        </p:nvSpPr>
        <p:spPr>
          <a:xfrm>
            <a:off x="109728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6665976"/>
            <a:ext cx="8046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Medical Equipment Asset Management &amp; Decision-Support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 built so far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77A"/>
                </a:solidFill>
              </a:rPr>
              <a:t>A layered full-stack architecture with Supabase as database, auth, and security backbone.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12344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344168"/>
            <a:ext cx="17739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Frontend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Next.js + React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1344168"/>
            <a:ext cx="17739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Services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TypeScript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5623560" y="12344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96712" y="1344168"/>
            <a:ext cx="17739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Backend/Data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Supabase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001000" y="12344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74152" y="1344168"/>
            <a:ext cx="17739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Database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PostgreSQL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10149840" y="123444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22992" y="1344168"/>
            <a:ext cx="12710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Outputs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Dashboards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2816352" y="1627632"/>
            <a:ext cx="365760" cy="0"/>
          </a:xfrm>
          <a:prstGeom prst="line">
            <a:avLst/>
          </a:prstGeom>
          <a:noFill/>
          <a:ln w="15240">
            <a:solidFill>
              <a:srgbClr val="A6B3C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93792" y="1627632"/>
            <a:ext cx="365760" cy="0"/>
          </a:xfrm>
          <a:prstGeom prst="line">
            <a:avLst/>
          </a:prstGeom>
          <a:noFill/>
          <a:ln w="15240">
            <a:solidFill>
              <a:srgbClr val="A6B3C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71232" y="1627632"/>
            <a:ext cx="365760" cy="0"/>
          </a:xfrm>
          <a:prstGeom prst="line">
            <a:avLst/>
          </a:prstGeom>
          <a:noFill/>
          <a:ln w="15240">
            <a:solidFill>
              <a:srgbClr val="A6B3C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948672" y="1627632"/>
            <a:ext cx="155448" cy="0"/>
          </a:xfrm>
          <a:prstGeom prst="line">
            <a:avLst/>
          </a:prstGeom>
          <a:noFill/>
          <a:ln w="15240">
            <a:solidFill>
              <a:srgbClr val="A6B3C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68680" y="2971800"/>
            <a:ext cx="32461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7620">
            <a:solidFill>
              <a:srgbClr val="E3EAF3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2971800"/>
            <a:ext cx="64008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1181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33"/>
                </a:solidFill>
              </a:rPr>
              <a:t>Why this architecture fits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78992" y="3447288"/>
            <a:ext cx="29260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77A"/>
                </a:solidFill>
              </a:rPr>
              <a:t>Fast web dashboard development, reusable UI, and fewer moving backend parts for a student prototype.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80560" y="2971800"/>
            <a:ext cx="32461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7620">
            <a:solidFill>
              <a:srgbClr val="E3EAF3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2971800"/>
            <a:ext cx="6400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31181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33"/>
                </a:solidFill>
              </a:rPr>
              <a:t>Why Supabase/PostgreSQL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90872" y="3447288"/>
            <a:ext cx="29260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77A"/>
                </a:solidFill>
              </a:rPr>
              <a:t>Relational data, auth, row-level security, SQL functions/views, and realistic deployment path.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92440" y="2971800"/>
            <a:ext cx="32461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7620">
            <a:solidFill>
              <a:srgbClr val="E3EAF3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92440" y="2971800"/>
            <a:ext cx="64008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02752" y="31181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33"/>
                </a:solidFill>
              </a:rPr>
              <a:t>Why TypeScript services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302752" y="3447288"/>
            <a:ext cx="29260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77A"/>
                </a:solidFill>
              </a:rPr>
              <a:t>Keeps data access centralized and gives safer contracts between UI, logic, and database.</a:t>
            </a:r>
            <a:endParaRPr lang="en-US" sz="1050" dirty="0"/>
          </a:p>
        </p:txBody>
      </p:sp>
      <p:sp>
        <p:nvSpPr>
          <p:cNvPr id="33" name="TextBox 32"/>
          <p:cNvSpPr txBox="1"/>
          <p:nvPr/>
        </p:nvSpPr>
        <p:spPr>
          <a:xfrm>
            <a:off x="109728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6665976"/>
            <a:ext cx="8046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Medical Equipment Asset Management &amp; Decision-Support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progress map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77A"/>
                </a:solidFill>
              </a:rPr>
              <a:t>The system now covers the full hospital equipment lifecycle at prototype level.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3400" y="1063542"/>
            <a:ext cx="108813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3EA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D677A"/>
                </a:solidFill>
              </a:rPr>
              <a:t>Module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71800" y="105156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D677A"/>
                </a:solidFill>
              </a:rPr>
              <a:t>Current implementation focus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41080" y="1051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D677A"/>
                </a:solidFill>
              </a:rPr>
              <a:t>Status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1719072"/>
            <a:ext cx="10378440" cy="0"/>
          </a:xfrm>
          <a:prstGeom prst="line">
            <a:avLst/>
          </a:prstGeom>
          <a:noFill/>
          <a:ln w="8890">
            <a:solidFill>
              <a:srgbClr val="EEF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371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52033"/>
                </a:solidFill>
              </a:rPr>
              <a:t>Equipment registry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2971800" y="137160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5D677A"/>
                </a:solidFill>
              </a:rPr>
              <a:t>Asset data, category, department, status, condition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8641080" y="1353312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95944" y="1426464"/>
            <a:ext cx="1490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6A34A"/>
                </a:solidFill>
              </a:rPr>
              <a:t>Built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777240" y="2267712"/>
            <a:ext cx="10378440" cy="0"/>
          </a:xfrm>
          <a:prstGeom prst="line">
            <a:avLst/>
          </a:prstGeom>
          <a:noFill/>
          <a:ln w="8890">
            <a:solidFill>
              <a:srgbClr val="EEF2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52033"/>
                </a:solidFill>
              </a:rPr>
              <a:t>Maintenance + work orders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2971800" y="192024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5D677A"/>
                </a:solidFill>
              </a:rPr>
              <a:t>Requests, assignment, execution, closure, repair logs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641080" y="1901952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95944" y="1975104"/>
            <a:ext cx="1490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6A34A"/>
                </a:solidFill>
              </a:rPr>
              <a:t>Built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777240" y="2816352"/>
            <a:ext cx="10378440" cy="0"/>
          </a:xfrm>
          <a:prstGeom prst="line">
            <a:avLst/>
          </a:prstGeom>
          <a:noFill/>
          <a:ln w="8890">
            <a:solidFill>
              <a:srgbClr val="EEF2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2468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52033"/>
                </a:solidFill>
              </a:rPr>
              <a:t>PM + calibration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2971800" y="246888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5D677A"/>
                </a:solidFill>
              </a:rPr>
              <a:t>Scheduling, completion records, compliance tracking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641080" y="2450592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95944" y="2523744"/>
            <a:ext cx="1490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59E0B"/>
                </a:solidFill>
              </a:rPr>
              <a:t>Built / expanding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777240" y="3364992"/>
            <a:ext cx="10378440" cy="0"/>
          </a:xfrm>
          <a:prstGeom prst="line">
            <a:avLst/>
          </a:prstGeom>
          <a:noFill/>
          <a:ln w="8890">
            <a:solidFill>
              <a:srgbClr val="EEF2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017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52033"/>
                </a:solidFill>
              </a:rPr>
              <a:t>Spare parts + logistics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2971800" y="301752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5D677A"/>
                </a:solidFill>
              </a:rPr>
              <a:t>Receipt, issue, stock movement, reorder visibility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8641080" y="2999232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95944" y="3072384"/>
            <a:ext cx="1490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59E0B"/>
                </a:solidFill>
              </a:rPr>
              <a:t>Built / expanding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777240" y="3913632"/>
            <a:ext cx="10378440" cy="0"/>
          </a:xfrm>
          <a:prstGeom prst="line">
            <a:avLst/>
          </a:prstGeom>
          <a:noFill/>
          <a:ln w="8890">
            <a:solidFill>
              <a:srgbClr val="EEF2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566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52033"/>
                </a:solidFill>
              </a:rPr>
              <a:t>Training + disposal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2971800" y="356616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5D677A"/>
                </a:solidFill>
              </a:rPr>
              <a:t>Training records and disposal workflow support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8641080" y="3547872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95944" y="3621024"/>
            <a:ext cx="1490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59E0B"/>
                </a:solidFill>
              </a:rPr>
              <a:t>Built / expanding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777240" y="4462272"/>
            <a:ext cx="10378440" cy="0"/>
          </a:xfrm>
          <a:prstGeom prst="line">
            <a:avLst/>
          </a:prstGeom>
          <a:noFill/>
          <a:ln w="8890">
            <a:solidFill>
              <a:srgbClr val="EEF2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114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52033"/>
                </a:solidFill>
              </a:rPr>
              <a:t>Analytics + decision support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2971800" y="411480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5D677A"/>
                </a:solidFill>
              </a:rPr>
              <a:t>Reliability, risk, PM compliance, health, triage, readiness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8641080" y="4096512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95944" y="4169664"/>
            <a:ext cx="1490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59E0B"/>
                </a:solidFill>
              </a:rPr>
              <a:t>Built / needs UI polish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777240" y="5010912"/>
            <a:ext cx="10378440" cy="0"/>
          </a:xfrm>
          <a:prstGeom prst="line">
            <a:avLst/>
          </a:prstGeom>
          <a:noFill/>
          <a:ln w="8890">
            <a:solidFill>
              <a:srgbClr val="EEF2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4663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52033"/>
                </a:solidFill>
              </a:rPr>
              <a:t>AI / QR / offline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2971800" y="466344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5D677A"/>
                </a:solidFill>
              </a:rPr>
              <a:t>Copilot route and offline foundation; QR and full offline flow next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8641080" y="4645152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95944" y="4718304"/>
            <a:ext cx="1490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7C3AED"/>
                </a:solidFill>
              </a:rPr>
              <a:t>Planned + foundation</a:t>
            </a:r>
            <a:endParaRPr lang="en-US" sz="780" dirty="0"/>
          </a:p>
        </p:txBody>
      </p:sp>
      <p:sp>
        <p:nvSpPr>
          <p:cNvPr id="46" name="TextBox 45"/>
          <p:cNvSpPr txBox="1"/>
          <p:nvPr/>
        </p:nvSpPr>
        <p:spPr>
          <a:xfrm>
            <a:off x="109728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6665976"/>
            <a:ext cx="8046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Medical Equipment Asset Management &amp; Decision-Support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Decision-support layer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77A"/>
                </a:solidFill>
              </a:rPr>
              <a:t>The value is converting routine logs into ranked, explainable engineering priorities.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109728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207008"/>
            <a:ext cx="13624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Equipment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records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2788920" y="109728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62072" y="1207008"/>
            <a:ext cx="13624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Maintenance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logs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207008"/>
            <a:ext cx="13624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PM / Calibration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records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720840" y="109728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93992" y="1207008"/>
            <a:ext cx="13624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Risk + reliability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metrics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8686800" y="109728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59952" y="1207008"/>
            <a:ext cx="13624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Decision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snapshots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10469880" y="1097280"/>
            <a:ext cx="11430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43032" y="1207008"/>
            <a:ext cx="9966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Action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52033"/>
                </a:solidFill>
              </a:rPr>
              <a:t>priority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2359152" y="1435608"/>
            <a:ext cx="384048" cy="0"/>
          </a:xfrm>
          <a:prstGeom prst="line">
            <a:avLst/>
          </a:prstGeom>
          <a:noFill/>
          <a:ln w="15240">
            <a:solidFill>
              <a:srgbClr val="A6B3C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25112" y="1435608"/>
            <a:ext cx="384048" cy="0"/>
          </a:xfrm>
          <a:prstGeom prst="line">
            <a:avLst/>
          </a:prstGeom>
          <a:noFill/>
          <a:ln w="15240">
            <a:solidFill>
              <a:srgbClr val="A6B3C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91072" y="1435608"/>
            <a:ext cx="384048" cy="0"/>
          </a:xfrm>
          <a:prstGeom prst="line">
            <a:avLst/>
          </a:prstGeom>
          <a:noFill/>
          <a:ln w="15240">
            <a:solidFill>
              <a:srgbClr val="A6B3C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257032" y="1435608"/>
            <a:ext cx="384048" cy="0"/>
          </a:xfrm>
          <a:prstGeom prst="line">
            <a:avLst/>
          </a:prstGeom>
          <a:noFill/>
          <a:ln w="15240">
            <a:solidFill>
              <a:srgbClr val="A6B3C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222992" y="1435608"/>
            <a:ext cx="201168" cy="0"/>
          </a:xfrm>
          <a:prstGeom prst="line">
            <a:avLst/>
          </a:prstGeom>
          <a:noFill/>
          <a:ln w="15240">
            <a:solidFill>
              <a:srgbClr val="A6B3C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68680" y="2788920"/>
            <a:ext cx="22402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7620">
            <a:solidFill>
              <a:srgbClr val="E3EAF3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2788920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8992" y="29352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33"/>
                </a:solidFill>
              </a:rPr>
              <a:t>Reliability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78992" y="3264408"/>
            <a:ext cx="19202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77A"/>
                </a:solidFill>
              </a:rPr>
              <a:t>MTBF, MTTR, availability, downtime, failure count.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37560" y="2788920"/>
            <a:ext cx="22402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7620">
            <a:solidFill>
              <a:srgbClr val="E3EAF3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37560" y="278892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47872" y="29352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33"/>
                </a:solidFill>
              </a:rPr>
              <a:t>Risk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547872" y="3264408"/>
            <a:ext cx="19202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77A"/>
                </a:solidFill>
              </a:rPr>
              <a:t>FMEA/RPN: severity × occurrence × detectability.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06440" y="2788920"/>
            <a:ext cx="22402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7620">
            <a:solidFill>
              <a:srgbClr val="E3EAF3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806440" y="2788920"/>
            <a:ext cx="6400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16752" y="29352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33"/>
                </a:solidFill>
              </a:rPr>
              <a:t>Compliance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016752" y="3264408"/>
            <a:ext cx="19202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77A"/>
                </a:solidFill>
              </a:rPr>
              <a:t>PM compliance: completed tasks over scheduled tasks.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275320" y="2788920"/>
            <a:ext cx="26974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7620">
            <a:solidFill>
              <a:srgbClr val="E3EAF3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75320" y="278892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85632" y="29352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33"/>
                </a:solidFill>
              </a:rPr>
              <a:t>Prioritization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485632" y="3264408"/>
            <a:ext cx="2377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77A"/>
                </a:solidFill>
              </a:rPr>
              <a:t>Health score, readiness, workload, replacement rank.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05840" y="4892040"/>
            <a:ext cx="10104120" cy="502920"/>
          </a:xfrm>
          <a:prstGeom prst="roundRect">
            <a:avLst>
              <a:gd name="adj" fmla="val 14545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34440" y="5056632"/>
            <a:ext cx="9646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</a:rPr>
              <a:t>The remaining design question is how to present these outputs in one unified “Engineer Command Center.”</a:t>
            </a:r>
            <a:endParaRPr lang="en-US" sz="1280" dirty="0"/>
          </a:p>
        </p:txBody>
      </p:sp>
      <p:sp>
        <p:nvSpPr>
          <p:cNvPr id="42" name="TextBox 41"/>
          <p:cNvSpPr txBox="1"/>
          <p:nvPr/>
        </p:nvSpPr>
        <p:spPr>
          <a:xfrm>
            <a:off x="109728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0179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6665976"/>
            <a:ext cx="8046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 Medical Equipment Asset Management &amp; Decision-Support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Relationship to MEMIS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77A"/>
                </a:solidFill>
              </a:rPr>
              <a:t>MEMIS provides the national workflow basis; our prototype adds hospital-level usability and decision support.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1234440"/>
            <a:ext cx="32461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7620">
            <a:solidFill>
              <a:srgbClr val="E3EAF3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234440"/>
            <a:ext cx="64008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38074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33"/>
                </a:solidFill>
              </a:rPr>
              <a:t>MEMIS baseline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87552" y="1709928"/>
            <a:ext cx="292608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77A"/>
                </a:solidFill>
              </a:rPr>
              <a:t>Registration, requesting, reporting, dashboards, logistics, settings, users, and helpdesk-style workflows across the health system.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62272" y="1234440"/>
            <a:ext cx="32461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7620">
            <a:solidFill>
              <a:srgbClr val="E3EAF3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62272" y="1234440"/>
            <a:ext cx="64008" cy="1828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2584" y="138074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33"/>
                </a:solidFill>
              </a:rPr>
              <a:t>Our hospital-level extension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72584" y="1709928"/>
            <a:ext cx="292608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77A"/>
                </a:solidFill>
              </a:rPr>
              <a:t>Same lifecycle language, but focused on Yekatit 12 workflow, faster daily use, and richer engineering analytics.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1234440"/>
            <a:ext cx="32461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7620">
            <a:solidFill>
              <a:srgbClr val="E3EAF3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1234440"/>
            <a:ext cx="64008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8472" y="138074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33"/>
                </a:solidFill>
              </a:rPr>
              <a:t>Added adoption strategy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48472" y="1709928"/>
            <a:ext cx="292608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77A"/>
                </a:solidFill>
              </a:rPr>
              <a:t>Insightful analytics, AI support, QR scanning, offline logging, and training videos reduce friction for BMEs.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3931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4343400"/>
            <a:ext cx="10378440" cy="685800"/>
          </a:xfrm>
          <a:prstGeom prst="roundRect">
            <a:avLst>
              <a:gd name="adj" fmla="val 13333"/>
            </a:avLst>
          </a:prstGeom>
          <a:solidFill>
            <a:srgbClr val="FFF7E6"/>
          </a:solidFill>
          <a:ln w="12700">
            <a:solidFill>
              <a:srgbClr val="F8D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4553712"/>
            <a:ext cx="9829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7A4A00"/>
                </a:solidFill>
              </a:rPr>
              <a:t>The adoption problem is not only technical. The system must be useful enough that engineers choose to keep records complete during real work while having low barrier to use.</a:t>
            </a:r>
            <a:endParaRPr lang="en-US" sz="1420" dirty="0"/>
          </a:p>
        </p:txBody>
      </p:sp>
      <p:sp>
        <p:nvSpPr>
          <p:cNvPr id="22" name="TextBox 21"/>
          <p:cNvSpPr txBox="1"/>
          <p:nvPr/>
        </p:nvSpPr>
        <p:spPr>
          <a:xfrm>
            <a:off x="109728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5597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943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System Demonstration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12344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Short walkthrough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68680" y="2743200"/>
            <a:ext cx="566928" cy="5669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898648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5508" y="3503607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 / status view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5920" y="3029573"/>
            <a:ext cx="114300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08960" y="274320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898648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72629" y="3503607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Equipment registry + asset detail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86200" y="3039964"/>
            <a:ext cx="114300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49240" y="2743200"/>
            <a:ext cx="566928" cy="5669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2898648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09750" y="3524597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Maintenance request + work order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039964"/>
            <a:ext cx="114300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89520" y="2743200"/>
            <a:ext cx="566928" cy="5669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2898648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56348" y="351399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Analytics / decision-support outputs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66760" y="3039964"/>
            <a:ext cx="114300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829800" y="274320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12680" y="2898648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593469" y="352979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AI copilot / offline foundation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71600" y="5074920"/>
            <a:ext cx="946404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00200" y="5230368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E2E8F0"/>
                </a:solidFill>
              </a:rPr>
              <a:t>The foundation exists; the next step is real data, polished decision UI, and evaluation.</a:t>
            </a:r>
            <a:endParaRPr lang="en-US" sz="1320" dirty="0"/>
          </a:p>
        </p:txBody>
      </p:sp>
      <p:sp>
        <p:nvSpPr>
          <p:cNvPr id="26" name="TextBox 25"/>
          <p:cNvSpPr txBox="1"/>
          <p:nvPr/>
        </p:nvSpPr>
        <p:spPr>
          <a:xfrm>
            <a:off x="109728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6665976"/>
            <a:ext cx="8046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Medical Equipment Asset Management &amp; Decision-Support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Remaining work 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77A"/>
                </a:solidFill>
              </a:rPr>
              <a:t>The remaining work is clear and mostly about real-world validation, usability, and adoption.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1143000"/>
            <a:ext cx="33832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7620">
            <a:solidFill>
              <a:srgbClr val="E3EAF3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143000"/>
            <a:ext cx="64008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28930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33"/>
                </a:solidFill>
              </a:rPr>
              <a:t>1. Real data migration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96112" y="1618488"/>
            <a:ext cx="306324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77A"/>
                </a:solidFill>
              </a:rPr>
              <a:t>Replace seed/demo data with Yekatit 12 records from paper logs, Excel sheets, and existing files; clean and map fields.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1143000"/>
            <a:ext cx="33832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7620">
            <a:solidFill>
              <a:srgbClr val="E3EAF3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143000"/>
            <a:ext cx="64008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28930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33"/>
                </a:solidFill>
              </a:rPr>
              <a:t>2. Analytics UI polish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45152" y="1618488"/>
            <a:ext cx="306324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77A"/>
                </a:solidFill>
              </a:rPr>
              <a:t>Make outputs more actionable: top risks, overdue PM, repeated failures, workload, downtime, suggested next action.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83880" y="1143000"/>
            <a:ext cx="33832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7620">
            <a:solidFill>
              <a:srgbClr val="E3EAF3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3880" y="1143000"/>
            <a:ext cx="64008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28930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33"/>
                </a:solidFill>
              </a:rPr>
              <a:t>3. Adoption features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94192" y="1618488"/>
            <a:ext cx="306324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77A"/>
                </a:solidFill>
              </a:rPr>
              <a:t>QR scanner, offline logging/sync, AI Copilot, and embedded training videos to reduce daily friction.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97280" y="3337560"/>
            <a:ext cx="45720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7620">
            <a:solidFill>
              <a:srgbClr val="E3EAF3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97280" y="333756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07592" y="3483864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33"/>
                </a:solidFill>
              </a:rPr>
              <a:t>4. Thesis evaluation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07592" y="3813048"/>
            <a:ext cx="42519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77A"/>
                </a:solidFill>
              </a:rPr>
              <a:t>Usability testing with BMEs, performance/responsiveness checks, analytics verification, satisfaction survey, comparison with MEMIS.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3337560"/>
            <a:ext cx="45720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7620">
            <a:solidFill>
              <a:srgbClr val="E3EAF3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92240" y="3337560"/>
            <a:ext cx="64008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02552" y="3483864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33"/>
                </a:solidFill>
              </a:rPr>
              <a:t>5. Documentation and final report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702552" y="3813048"/>
            <a:ext cx="42519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D677A"/>
                </a:solidFill>
              </a:rPr>
              <a:t>Complete methodology, results, limitations, screenshots, system description, and implementation/evaluation evidence.</a:t>
            </a:r>
            <a:endParaRPr lang="en-US" sz="1050" dirty="0"/>
          </a:p>
        </p:txBody>
      </p:sp>
      <p:sp>
        <p:nvSpPr>
          <p:cNvPr id="27" name="TextBox 26"/>
          <p:cNvSpPr txBox="1"/>
          <p:nvPr/>
        </p:nvSpPr>
        <p:spPr>
          <a:xfrm>
            <a:off x="109728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4C6ED0-6BB4-C0EA-957A-500C57DE75BF}"/>
              </a:ext>
            </a:extLst>
          </p:cNvPr>
          <p:cNvSpPr txBox="1"/>
          <p:nvPr/>
        </p:nvSpPr>
        <p:spPr>
          <a:xfrm>
            <a:off x="4111739" y="2921168"/>
            <a:ext cx="39685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T" sz="60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41781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1414</Words>
  <Application>Microsoft Macintosh PowerPoint</Application>
  <PresentationFormat>Widescreen</PresentationFormat>
  <Paragraphs>218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Addis Ababa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Advisor Progress Update</dc:title>
  <dc:subject>Advisor progress report</dc:subject>
  <dc:creator>Beamlak Fekadu</dc:creator>
  <cp:lastModifiedBy>Microsoft Office User</cp:lastModifiedBy>
  <cp:revision>12</cp:revision>
  <dcterms:created xsi:type="dcterms:W3CDTF">2026-04-27T17:52:26Z</dcterms:created>
  <dcterms:modified xsi:type="dcterms:W3CDTF">2026-05-02T10:32:42Z</dcterms:modified>
</cp:coreProperties>
</file>